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18288000" cy="10287000"/>
  <p:notesSz cx="6858000" cy="9144000"/>
  <p:embeddedFontLst>
    <p:embeddedFont>
      <p:font typeface="Arial Bold" panose="020B0704020202020204" pitchFamily="34" charset="0"/>
      <p:regular r:id="rId97"/>
      <p:bold r:id="rId98"/>
    </p:embeddedFont>
    <p:embeddedFont>
      <p:font typeface="Arial MT Pro" panose="020B0604020202020204" charset="0"/>
      <p:regular r:id="rId99"/>
    </p:embeddedFont>
    <p:embeddedFont>
      <p:font typeface="Arial MT Pro Bold" panose="020B0604020202020204" charset="0"/>
      <p:regular r:id="rId100"/>
    </p:embeddedFont>
    <p:embeddedFont>
      <p:font typeface="Arial MT Pro Bold Italics" panose="020B0604020202020204" charset="0"/>
      <p:regular r:id="rId101"/>
    </p:embeddedFont>
    <p:embeddedFont>
      <p:font typeface="Arial MT Pro Italics" panose="020B0604020202020204" charset="0"/>
      <p:regular r:id="rId102"/>
    </p:embeddedFont>
    <p:embeddedFont>
      <p:font typeface="Courier New Bold" panose="02070609020205020404" pitchFamily="49" charset="0"/>
      <p:regular r:id="rId103"/>
      <p:bold r:id="rId104"/>
    </p:embeddedFont>
    <p:embeddedFont>
      <p:font typeface="Verdana" panose="020B0604030504040204" pitchFamily="34" charset="0"/>
      <p:regular r:id="rId105"/>
      <p:bold r:id="rId106"/>
      <p:italic r:id="rId107"/>
      <p:boldItalic r:id="rId10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font" Target="fonts/font6.fntdata"/><Relationship Id="rId110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4.fntdata"/><Relationship Id="rId105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font" Target="fonts/font7.fntdata"/><Relationship Id="rId108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3.fntdata"/><Relationship Id="rId10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.fntdata"/><Relationship Id="rId104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watch?v=6x0UlIBLRsc&amp;t=720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watch?v=6x0UlIBLRsc&amp;t=965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321558" y="3600450"/>
            <a:ext cx="7205668" cy="164780"/>
            <a:chOff x="0" y="0"/>
            <a:chExt cx="6832041" cy="1562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31457" cy="156083"/>
            </a:xfrm>
            <a:custGeom>
              <a:avLst/>
              <a:gdLst/>
              <a:ahLst/>
              <a:cxnLst/>
              <a:rect l="l" t="t" r="r" b="b"/>
              <a:pathLst>
                <a:path w="6831457" h="156083">
                  <a:moveTo>
                    <a:pt x="6831457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831457" y="156083"/>
                  </a:lnTo>
                  <a:lnTo>
                    <a:pt x="6831457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434219" y="2512997"/>
            <a:ext cx="8434389" cy="965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CS163: Data structures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0133" y="5700042"/>
            <a:ext cx="2847733" cy="65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3806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Topic: Treap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66299" y="9611374"/>
            <a:ext cx="955401" cy="40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5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241408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Today?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92111" y="9258300"/>
            <a:ext cx="903779" cy="24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63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29759" y="2662982"/>
            <a:ext cx="10673556" cy="488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Continue Discussing Tree</a:t>
            </a:r>
          </a:p>
          <a:p>
            <a:pPr marL="842011" lvl="1" indent="-421005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Examine more advanced trees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2-3 (evaluate what we learned)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B-Trees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AVL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2-3-4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red-black trees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</a:t>
            </a:r>
          </a:p>
          <a:p>
            <a:pPr algn="l">
              <a:lnSpc>
                <a:spcPts val="6839"/>
              </a:lnSpc>
            </a:pPr>
            <a:endParaRPr lang="en-US" sz="5699" spc="-1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125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 a </a:t>
            </a:r>
            <a:r>
              <a:rPr lang="en-US" sz="3900" i="1" strike="sngStrike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self-balancing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randomized </a:t>
            </a:r>
            <a:r>
              <a:rPr lang="en-US" sz="3900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binary search tree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37329"/>
            <a:ext cx="11280459" cy="3120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3432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randomized binary search tree:</a:t>
            </a:r>
          </a:p>
          <a:p>
            <a:pPr algn="l">
              <a:lnSpc>
                <a:spcPts val="3432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3432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Designed to maintain ordered data</a:t>
            </a:r>
          </a:p>
          <a:p>
            <a:pPr algn="l">
              <a:lnSpc>
                <a:spcPts val="3432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3432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Avoids worst-case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O(N)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depth of BST</a:t>
            </a:r>
          </a:p>
          <a:p>
            <a:pPr algn="l">
              <a:lnSpc>
                <a:spcPts val="3432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3432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Uses random priorities to stay balanced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37329"/>
            <a:ext cx="11280459" cy="54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3432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= Binary Search Tree + Heap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Properties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589679"/>
            <a:ext cx="11280459" cy="454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006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Satisfies two distinct properties simultaneously:</a:t>
            </a:r>
          </a:p>
          <a:p>
            <a:pPr marL="1684021" lvl="2" indent="-561340" algn="l">
              <a:lnSpc>
                <a:spcPts val="6006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Binary Search Tree Property:</a:t>
            </a:r>
          </a:p>
          <a:p>
            <a:pPr marL="2526032" lvl="3" indent="-631508" algn="l">
              <a:lnSpc>
                <a:spcPts val="6006"/>
              </a:lnSpc>
              <a:buFont typeface="Arial"/>
              <a:buChar char="￭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left subtree keys &lt; node key</a:t>
            </a:r>
          </a:p>
          <a:p>
            <a:pPr marL="2526032" lvl="3" indent="-631508" algn="l">
              <a:lnSpc>
                <a:spcPts val="6006"/>
              </a:lnSpc>
              <a:buFont typeface="Arial"/>
              <a:buChar char="￭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right subtree keys &gt; node key</a:t>
            </a:r>
          </a:p>
          <a:p>
            <a:pPr marL="1684021" lvl="2" indent="-561340" algn="l">
              <a:lnSpc>
                <a:spcPts val="6006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Heap property (max - heap):</a:t>
            </a:r>
          </a:p>
          <a:p>
            <a:pPr marL="2526032" lvl="3" indent="-631508" algn="l">
              <a:lnSpc>
                <a:spcPts val="6006"/>
              </a:lnSpc>
              <a:buFont typeface="Arial"/>
              <a:buChar char="￭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parent priority ≥ children priorities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712169" y="4223769"/>
            <a:ext cx="3681510" cy="3477820"/>
          </a:xfrm>
          <a:custGeom>
            <a:avLst/>
            <a:gdLst/>
            <a:ahLst/>
            <a:cxnLst/>
            <a:rect l="l" t="t" r="r" b="b"/>
            <a:pathLst>
              <a:path w="3681510" h="3477820">
                <a:moveTo>
                  <a:pt x="0" y="0"/>
                </a:moveTo>
                <a:lnTo>
                  <a:pt x="3681510" y="0"/>
                </a:lnTo>
                <a:lnTo>
                  <a:pt x="3681510" y="3477821"/>
                </a:lnTo>
                <a:lnTo>
                  <a:pt x="0" y="347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60404" y="3802560"/>
            <a:ext cx="4060379" cy="2889793"/>
          </a:xfrm>
          <a:custGeom>
            <a:avLst/>
            <a:gdLst/>
            <a:ahLst/>
            <a:cxnLst/>
            <a:rect l="l" t="t" r="r" b="b"/>
            <a:pathLst>
              <a:path w="4060379" h="2889793">
                <a:moveTo>
                  <a:pt x="0" y="0"/>
                </a:moveTo>
                <a:lnTo>
                  <a:pt x="4060379" y="0"/>
                </a:lnTo>
                <a:lnTo>
                  <a:pt x="4060379" y="2889793"/>
                </a:lnTo>
                <a:lnTo>
                  <a:pt x="0" y="2889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000" b="-1486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59447" y="7055897"/>
            <a:ext cx="1462293" cy="487431"/>
          </a:xfrm>
          <a:custGeom>
            <a:avLst/>
            <a:gdLst/>
            <a:ahLst/>
            <a:cxnLst/>
            <a:rect l="l" t="t" r="r" b="b"/>
            <a:pathLst>
              <a:path w="1462293" h="487431">
                <a:moveTo>
                  <a:pt x="0" y="0"/>
                </a:moveTo>
                <a:lnTo>
                  <a:pt x="1462293" y="0"/>
                </a:lnTo>
                <a:lnTo>
                  <a:pt x="1462293" y="487431"/>
                </a:lnTo>
                <a:lnTo>
                  <a:pt x="0" y="487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Properties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14700" y="3056633"/>
            <a:ext cx="4476447" cy="57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327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Binary Search Tree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51288" y="3092947"/>
            <a:ext cx="1078611" cy="53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311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Heap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Properties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Freeform 6"/>
          <p:cNvSpPr/>
          <p:nvPr/>
        </p:nvSpPr>
        <p:spPr>
          <a:xfrm>
            <a:off x="4462864" y="3450885"/>
            <a:ext cx="9377127" cy="4728205"/>
          </a:xfrm>
          <a:custGeom>
            <a:avLst/>
            <a:gdLst/>
            <a:ahLst/>
            <a:cxnLst/>
            <a:rect l="l" t="t" r="r" b="b"/>
            <a:pathLst>
              <a:path w="9377127" h="4728205">
                <a:moveTo>
                  <a:pt x="0" y="0"/>
                </a:moveTo>
                <a:lnTo>
                  <a:pt x="9377127" y="0"/>
                </a:lnTo>
                <a:lnTo>
                  <a:pt x="9377127" y="4728206"/>
                </a:lnTo>
                <a:lnTo>
                  <a:pt x="0" y="4728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26" t="-38211" b="-1392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11830" y="2826785"/>
            <a:ext cx="9042375" cy="221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1729" lvl="1" indent="-420865" algn="l">
              <a:lnSpc>
                <a:spcPts val="5731"/>
              </a:lnSpc>
              <a:buFont typeface="Arial"/>
              <a:buChar char="•"/>
            </a:pPr>
            <a:r>
              <a:rPr lang="en-US" sz="3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Each node gets a random priority</a:t>
            </a:r>
          </a:p>
          <a:p>
            <a:pPr marL="841729" lvl="1" indent="-420865" algn="l">
              <a:lnSpc>
                <a:spcPts val="5731"/>
              </a:lnSpc>
              <a:buFont typeface="Arial"/>
              <a:buChar char="•"/>
            </a:pPr>
            <a:r>
              <a:rPr lang="en-US" sz="3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Tree shape becomes random</a:t>
            </a:r>
          </a:p>
          <a:p>
            <a:pPr marL="841729" lvl="1" indent="-420865" algn="l">
              <a:lnSpc>
                <a:spcPts val="5731"/>
              </a:lnSpc>
              <a:buFont typeface="Arial"/>
              <a:buChar char="•"/>
            </a:pPr>
            <a:r>
              <a:rPr lang="en-US" sz="3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Similar to a random binary tree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History of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43453"/>
            <a:ext cx="11280459" cy="384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084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Proposed by Seidel &amp; Aragon (1989)</a:t>
            </a:r>
          </a:p>
          <a:p>
            <a:pPr marL="520561" lvl="1" indent="-260280" algn="l">
              <a:lnSpc>
                <a:spcPts val="6084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Published in Algorithmica (1996)</a:t>
            </a:r>
          </a:p>
          <a:p>
            <a:pPr marL="520561" lvl="1" indent="-260280" algn="l">
              <a:lnSpc>
                <a:spcPts val="6084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Later work: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Randomized BST (Martínez &amp; Roura)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Applications in cryptography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History of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1830" y="3053095"/>
            <a:ext cx="11280459" cy="243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Connections: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Similar to Quicksort randomness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Based on Cartesian Tree (1980)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History of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1830" y="3053095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 b="1" i="1" u="sng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Quiz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Why is treap also called Cartesian tree?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History of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Freeform 6"/>
          <p:cNvSpPr/>
          <p:nvPr/>
        </p:nvSpPr>
        <p:spPr>
          <a:xfrm>
            <a:off x="5627100" y="3028356"/>
            <a:ext cx="7048655" cy="5912641"/>
          </a:xfrm>
          <a:custGeom>
            <a:avLst/>
            <a:gdLst/>
            <a:ahLst/>
            <a:cxnLst/>
            <a:rect l="l" t="t" r="r" b="b"/>
            <a:pathLst>
              <a:path w="7048655" h="5912641">
                <a:moveTo>
                  <a:pt x="0" y="0"/>
                </a:moveTo>
                <a:lnTo>
                  <a:pt x="7048655" y="0"/>
                </a:lnTo>
                <a:lnTo>
                  <a:pt x="7048655" y="5912641"/>
                </a:lnTo>
                <a:lnTo>
                  <a:pt x="0" y="591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354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Main Data Structures</a:t>
            </a:r>
          </a:p>
          <a:p>
            <a:pPr algn="l">
              <a:lnSpc>
                <a:spcPts val="6839"/>
              </a:lnSpc>
            </a:pPr>
            <a:endParaRPr lang="en-US" sz="5699" spc="-1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6839"/>
              </a:lnSpc>
            </a:pPr>
            <a:endParaRPr lang="en-US" sz="5699" spc="-1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6839"/>
              </a:lnSpc>
            </a:pPr>
            <a:endParaRPr lang="en-US" sz="5699" spc="-1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1830" y="3234376"/>
            <a:ext cx="7729720" cy="151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571" lvl="1" indent="-316285" algn="l">
              <a:lnSpc>
                <a:spcPts val="5687"/>
              </a:lnSpc>
              <a:buFont typeface="Arial"/>
              <a:buChar char="•"/>
            </a:pPr>
            <a:r>
              <a:rPr lang="en-US" sz="473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Stores key + priority</a:t>
            </a:r>
          </a:p>
          <a:p>
            <a:pPr marL="632571" lvl="1" indent="-316285" algn="l">
              <a:lnSpc>
                <a:spcPts val="5687"/>
              </a:lnSpc>
              <a:buFont typeface="Arial"/>
              <a:buChar char="•"/>
            </a:pPr>
            <a:r>
              <a:rPr lang="en-US" sz="473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Works like BST + Heap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Main Algorithms in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55152"/>
            <a:ext cx="11280459" cy="503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Most treap’s operations are built from split and merge:</a:t>
            </a:r>
          </a:p>
          <a:p>
            <a:pPr marL="1744741" lvl="2" indent="-581580" algn="l">
              <a:lnSpc>
                <a:spcPts val="5535"/>
              </a:lnSpc>
              <a:buFont typeface="Arial"/>
              <a:buChar char="⚬"/>
            </a:pPr>
            <a:r>
              <a:rPr lang="en-US" sz="404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Split</a:t>
            </a: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Divide tree into 2 parts</a:t>
            </a:r>
          </a:p>
          <a:p>
            <a:pPr marL="1744741" lvl="2" indent="-581580" algn="l">
              <a:lnSpc>
                <a:spcPts val="6343"/>
              </a:lnSpc>
              <a:buFont typeface="Arial"/>
              <a:buChar char="⚬"/>
            </a:pPr>
            <a:r>
              <a:rPr lang="en-US" sz="404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Merge</a:t>
            </a: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Combine two trees into one</a:t>
            </a:r>
          </a:p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is a key feature that makes Treap simple and flexible</a:t>
            </a:r>
          </a:p>
          <a:p>
            <a:pPr algn="l">
              <a:lnSpc>
                <a:spcPts val="5535"/>
              </a:lnSpc>
            </a:pPr>
            <a:endParaRPr lang="en-US" sz="404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4720614" y="6925878"/>
            <a:ext cx="8475944" cy="2794293"/>
          </a:xfrm>
          <a:custGeom>
            <a:avLst/>
            <a:gdLst/>
            <a:ahLst/>
            <a:cxnLst/>
            <a:rect l="l" t="t" r="r" b="b"/>
            <a:pathLst>
              <a:path w="8475944" h="2794293">
                <a:moveTo>
                  <a:pt x="0" y="0"/>
                </a:moveTo>
                <a:lnTo>
                  <a:pt x="8475944" y="0"/>
                </a:lnTo>
                <a:lnTo>
                  <a:pt x="8475944" y="2794292"/>
                </a:lnTo>
                <a:lnTo>
                  <a:pt x="0" y="2794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94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Operation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8357" y="2855152"/>
            <a:ext cx="11280459" cy="214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Splits one treap into two valid treaps:</a:t>
            </a:r>
          </a:p>
          <a:p>
            <a:pPr marL="1744741" lvl="2" indent="-581580" algn="l">
              <a:lnSpc>
                <a:spcPts val="5535"/>
              </a:lnSpc>
              <a:buFont typeface="Arial"/>
              <a:buChar char="⚬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Left treap contains keys ≤ k</a:t>
            </a:r>
          </a:p>
          <a:p>
            <a:pPr marL="1744741" lvl="2" indent="-581580" algn="l">
              <a:lnSpc>
                <a:spcPts val="5535"/>
              </a:lnSpc>
              <a:buFont typeface="Arial"/>
              <a:buChar char="⚬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Right treap contains keys &gt; 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Operation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55152"/>
            <a:ext cx="11280459" cy="284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Unlike AVL or Red-Black trees, Treap supports split naturally</a:t>
            </a:r>
          </a:p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makes many advanced operations much easier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Operation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pic>
        <p:nvPicPr>
          <p:cNvPr id="6" name="Picture 6"/>
          <p:cNvPicPr>
            <a:picLocks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86611" y="4089509"/>
            <a:ext cx="8743950" cy="491463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318357" y="2855152"/>
            <a:ext cx="11280459" cy="752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039446" y="2709862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Combines two treaps into one</a:t>
            </a:r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Precondition: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Every key in left treap is smaller than every key in right treap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Root is chosen by comparing priorities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Recursively connects the remaining subtrees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913455" y="7092941"/>
            <a:ext cx="8475944" cy="2905186"/>
          </a:xfrm>
          <a:custGeom>
            <a:avLst/>
            <a:gdLst/>
            <a:ahLst/>
            <a:cxnLst/>
            <a:rect l="l" t="t" r="r" b="b"/>
            <a:pathLst>
              <a:path w="8475944" h="2905186">
                <a:moveTo>
                  <a:pt x="0" y="0"/>
                </a:moveTo>
                <a:lnTo>
                  <a:pt x="8475944" y="0"/>
                </a:lnTo>
                <a:lnTo>
                  <a:pt x="8475944" y="2905186"/>
                </a:lnTo>
                <a:lnTo>
                  <a:pt x="0" y="2905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6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 Operation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 Operation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55152"/>
            <a:ext cx="11280459" cy="214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 is a built-in structural operation of Treap</a:t>
            </a:r>
          </a:p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is much harder to do directly in AVL or Red-Black trees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 Operation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55152"/>
            <a:ext cx="11280459" cy="752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330" lvl="1" indent="-269665" algn="l">
              <a:lnSpc>
                <a:spcPts val="5535"/>
              </a:lnSpc>
              <a:buFont typeface="Arial"/>
              <a:buChar char="•"/>
            </a:pPr>
            <a:r>
              <a:rPr lang="en-US" sz="404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Example</a:t>
            </a:r>
          </a:p>
        </p:txBody>
      </p:sp>
      <p:pic>
        <p:nvPicPr>
          <p:cNvPr id="7" name="Picture 7"/>
          <p:cNvPicPr>
            <a:picLocks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86611" y="4089509"/>
            <a:ext cx="8743950" cy="49146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8790489" y="2812420"/>
            <a:ext cx="7211511" cy="3578846"/>
          </a:xfrm>
          <a:custGeom>
            <a:avLst/>
            <a:gdLst/>
            <a:ahLst/>
            <a:cxnLst/>
            <a:rect l="l" t="t" r="r" b="b"/>
            <a:pathLst>
              <a:path w="7211511" h="3578846">
                <a:moveTo>
                  <a:pt x="0" y="0"/>
                </a:moveTo>
                <a:lnTo>
                  <a:pt x="7211511" y="0"/>
                </a:lnTo>
                <a:lnTo>
                  <a:pt x="7211511" y="3578846"/>
                </a:lnTo>
                <a:lnTo>
                  <a:pt x="0" y="3578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67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32333" y="6685946"/>
            <a:ext cx="7543381" cy="3601054"/>
          </a:xfrm>
          <a:custGeom>
            <a:avLst/>
            <a:gdLst/>
            <a:ahLst/>
            <a:cxnLst/>
            <a:rect l="l" t="t" r="r" b="b"/>
            <a:pathLst>
              <a:path w="7543381" h="3601054">
                <a:moveTo>
                  <a:pt x="0" y="0"/>
                </a:moveTo>
                <a:lnTo>
                  <a:pt x="7543381" y="0"/>
                </a:lnTo>
                <a:lnTo>
                  <a:pt x="7543381" y="3601054"/>
                </a:lnTo>
                <a:lnTo>
                  <a:pt x="0" y="360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25" t="-818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and Erase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9653" y="2691994"/>
            <a:ext cx="11429163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7423" lvl="1" indent="-263712" algn="l">
              <a:lnSpc>
                <a:spcPts val="4741"/>
              </a:lnSpc>
              <a:buFont typeface="Arial"/>
              <a:buChar char="•"/>
            </a:pPr>
            <a:r>
              <a:rPr lang="en-US" sz="395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Insert</a:t>
            </a:r>
            <a:r>
              <a:rPr lang="en-US" sz="3951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395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→ add node → merge</a:t>
            </a: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527423" lvl="1" indent="-263712" algn="l">
              <a:lnSpc>
                <a:spcPts val="4741"/>
              </a:lnSpc>
              <a:buFont typeface="Arial"/>
              <a:buChar char="•"/>
            </a:pPr>
            <a:r>
              <a:rPr lang="en-US" sz="395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Erase</a:t>
            </a:r>
            <a:r>
              <a:rPr lang="en-US" sz="3951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395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→ remove node → merge</a:t>
            </a:r>
          </a:p>
          <a:p>
            <a:pPr algn="l">
              <a:lnSpc>
                <a:spcPts val="4741"/>
              </a:lnSpc>
            </a:pPr>
            <a:endParaRPr lang="en-US" sz="3951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Bulk Set 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65879"/>
            <a:ext cx="11280459" cy="334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226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also supports efficient set operations:</a:t>
            </a:r>
          </a:p>
          <a:p>
            <a:pPr marL="1684021" lvl="2" indent="-561340" algn="l">
              <a:lnSpc>
                <a:spcPts val="5226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Union</a:t>
            </a:r>
          </a:p>
          <a:p>
            <a:pPr marL="1684021" lvl="2" indent="-561340" algn="l">
              <a:lnSpc>
                <a:spcPts val="5226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Intersection</a:t>
            </a:r>
          </a:p>
          <a:p>
            <a:pPr marL="1684021" lvl="2" indent="-561340" algn="l">
              <a:lnSpc>
                <a:spcPts val="5226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Difference</a:t>
            </a:r>
          </a:p>
          <a:p>
            <a:pPr algn="l">
              <a:lnSpc>
                <a:spcPts val="5226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Bulk Set 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75404"/>
            <a:ext cx="11280459" cy="465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18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Strategy:</a:t>
            </a:r>
          </a:p>
          <a:p>
            <a:pPr marL="1684021" lvl="2" indent="-561340" algn="l">
              <a:lnSpc>
                <a:spcPts val="5187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choose the root with higher priority</a:t>
            </a:r>
          </a:p>
          <a:p>
            <a:pPr marL="1684021" lvl="2" indent="-561340" algn="l">
              <a:lnSpc>
                <a:spcPts val="5187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the other treap by that root key</a:t>
            </a:r>
          </a:p>
          <a:p>
            <a:pPr marL="1684021" lvl="2" indent="-561340" algn="l">
              <a:lnSpc>
                <a:spcPts val="5187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recursively combine corresponding subtrees</a:t>
            </a:r>
          </a:p>
          <a:p>
            <a:pPr marL="842011" lvl="1" indent="-421005" algn="l">
              <a:lnSpc>
                <a:spcPts val="518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Works efficiently on whole sets, not just single elements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 is Special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570629"/>
            <a:ext cx="11280459" cy="469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201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Easier to extend for:</a:t>
            </a:r>
          </a:p>
          <a:p>
            <a:pPr marL="1684021" lvl="2" indent="-561340" algn="l">
              <a:lnSpc>
                <a:spcPts val="6201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Set operations</a:t>
            </a:r>
          </a:p>
          <a:p>
            <a:pPr marL="1684021" lvl="2" indent="-561340" algn="l">
              <a:lnSpc>
                <a:spcPts val="6201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Range operations</a:t>
            </a:r>
          </a:p>
          <a:p>
            <a:pPr marL="1684021" lvl="2" indent="-561340" algn="l">
              <a:lnSpc>
                <a:spcPts val="6201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sequence structures</a:t>
            </a:r>
          </a:p>
          <a:p>
            <a:pPr marL="520561" lvl="1" indent="-260280" algn="l">
              <a:lnSpc>
                <a:spcPts val="6201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Simpler and more flexible than many self-balancing trees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 is Special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437279"/>
            <a:ext cx="11280459" cy="2873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768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BST: simple, but may become unbalanced</a:t>
            </a:r>
          </a:p>
          <a:p>
            <a:pPr marL="520561" lvl="1" indent="-260280" algn="l">
              <a:lnSpc>
                <a:spcPts val="768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AVL / Red-Black: balanced, but more complex</a:t>
            </a:r>
          </a:p>
          <a:p>
            <a:pPr marL="520561" lvl="1" indent="-260280" algn="l">
              <a:lnSpc>
                <a:spcPts val="768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Treap: randomized, elegant, and highly flexible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3673513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Node: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5441" y="3367009"/>
            <a:ext cx="6406187" cy="587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Node{</a:t>
            </a:r>
          </a:p>
          <a:p>
            <a:pPr algn="l">
              <a:lnSpc>
                <a:spcPts val="3986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 val;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71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 pri;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 *left, *right;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Node(int k){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val = k;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571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pri = rng();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left = right = nullptr;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  <a:p>
            <a:pPr algn="l">
              <a:lnSpc>
                <a:spcPts val="3085"/>
              </a:lnSpc>
            </a:pPr>
            <a:endParaRPr lang="en-US" sz="257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8618603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Number?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84929"/>
            <a:ext cx="10010186" cy="5398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999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Some built-in random number generators:</a:t>
            </a:r>
          </a:p>
          <a:p>
            <a:pPr marL="1623301" lvl="2" indent="-541100" algn="l">
              <a:lnSpc>
                <a:spcPts val="4999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C++: </a:t>
            </a:r>
          </a:p>
          <a:p>
            <a:pPr marL="2252790" lvl="3" indent="-563197" algn="l">
              <a:lnSpc>
                <a:spcPts val="4625"/>
              </a:lnSpc>
              <a:buFont typeface="Arial"/>
              <a:buChar char="￭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&lt;random&gt;</a:t>
            </a:r>
          </a:p>
          <a:p>
            <a:pPr marL="2252790" lvl="3" indent="-563197" algn="l">
              <a:lnSpc>
                <a:spcPts val="4625"/>
              </a:lnSpc>
              <a:buFont typeface="Arial"/>
              <a:buChar char="￭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rand()</a:t>
            </a:r>
          </a:p>
          <a:p>
            <a:pPr marL="2252790" lvl="3" indent="-563197" algn="l">
              <a:lnSpc>
                <a:spcPts val="4625"/>
              </a:lnSpc>
              <a:buFont typeface="Arial"/>
              <a:buChar char="￭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mt19937</a:t>
            </a:r>
          </a:p>
          <a:p>
            <a:pPr marL="1623301" lvl="2" indent="-541100" algn="l">
              <a:lnSpc>
                <a:spcPts val="4999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Python:</a:t>
            </a:r>
          </a:p>
          <a:p>
            <a:pPr marL="2252790" lvl="3" indent="-563197" algn="l">
              <a:lnSpc>
                <a:spcPts val="4625"/>
              </a:lnSpc>
              <a:buFont typeface="Arial"/>
              <a:buChar char="￭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</a:t>
            </a:r>
          </a:p>
          <a:p>
            <a:pPr marL="2252790" lvl="3" indent="-563197" algn="l">
              <a:lnSpc>
                <a:spcPts val="4625"/>
              </a:lnSpc>
              <a:buFont typeface="Arial"/>
              <a:buChar char="￭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randint()</a:t>
            </a:r>
          </a:p>
          <a:p>
            <a:pPr marL="1501860" lvl="2" indent="-500620" algn="l">
              <a:lnSpc>
                <a:spcPts val="4625"/>
              </a:lnSpc>
              <a:buFont typeface="Arial"/>
              <a:buChar char="⚬"/>
            </a:pPr>
            <a:r>
              <a:rPr lang="en-US" sz="347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2713177"/>
            <a:ext cx="11658600" cy="68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split(Node* root, int val, Node* &amp;left, Node* &amp;right){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(root == nullptr){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left = right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(root-&gt;val &lt;= val){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split(root-&gt;right, val, root-&gt;right, right);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left = root;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 else{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split(root-&gt;left, val, left, root-&gt;left);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right = root;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28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2703652"/>
            <a:ext cx="9915514" cy="602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Node* merge(Node* left, Node* right) {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(left == nullptr || right == nullptr){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left ? left : right;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705"/>
              </a:lnSpc>
            </a:pPr>
            <a:endParaRPr lang="en-US" sz="239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(left-&gt;pri &gt; right-&gt;pri) {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left-&gt;right = merge(left-&gt;right, right);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left;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 else {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right-&gt;left = merge(left, right-&gt;left);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right;</a:t>
            </a:r>
          </a:p>
          <a:p>
            <a:pPr algn="l">
              <a:lnSpc>
                <a:spcPts val="3705"/>
              </a:lnSpc>
            </a:pPr>
            <a:r>
              <a:rPr lang="en-US" sz="239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868"/>
              </a:lnSpc>
            </a:pPr>
            <a:r>
              <a:rPr lang="en-US" sz="2390" spc="-59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Inserting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2713177"/>
            <a:ext cx="12053858" cy="641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insert(Node* &amp;root, int val){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*left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*mid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*right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split(root, val, left, right);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split(left, val - 1, left, mid);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(mid == nullptr){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mid = new Node(val);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root = merge(merge(left, mid), right);</a:t>
            </a:r>
          </a:p>
          <a:p>
            <a:pPr algn="l">
              <a:lnSpc>
                <a:spcPts val="2828"/>
              </a:lnSpc>
            </a:pPr>
            <a:r>
              <a:rPr lang="en-US" sz="2356" spc="-5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Erasing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Implementing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2713177"/>
            <a:ext cx="12053858" cy="641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erase(Node* &amp;root, int val){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*left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*mid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Node *right = nullptr;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split(root, val, left, right);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split(left, val - 1, left, mid);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(mid != nullptr){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delete mid;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root = merge(left, right);</a:t>
            </a:r>
          </a:p>
          <a:p>
            <a:pPr algn="l">
              <a:lnSpc>
                <a:spcPts val="2828"/>
              </a:lnSpc>
            </a:pPr>
            <a:r>
              <a:rPr lang="en-US" sz="2356" spc="-58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1802"/>
            <a:ext cx="11280459" cy="170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74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How about the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Complexity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?</a:t>
            </a:r>
          </a:p>
          <a:p>
            <a:pPr marL="520561" lvl="1" indent="-260280" algn="l">
              <a:lnSpc>
                <a:spcPts val="674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Isn’t it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O(N)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splitting and merging?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69427"/>
            <a:ext cx="11280459" cy="318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27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Every node in a Treap contains 2 values:</a:t>
            </a:r>
          </a:p>
          <a:p>
            <a:pPr marL="1684021" lvl="2" indent="-561340" algn="l">
              <a:lnSpc>
                <a:spcPts val="6279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Key: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satisfies the property of a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BST</a:t>
            </a:r>
          </a:p>
          <a:p>
            <a:pPr marL="1684021" lvl="2" indent="-561340" algn="l">
              <a:lnSpc>
                <a:spcPts val="6279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Priority: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assigned by a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random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value and satisfies the property of the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Heap.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420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major issue of a normal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BST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 that the worst complexity can be up to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O(N)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if we insert the data in a sorted order.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But in a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by assigning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priority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randomly, the order of the nodes no longer depends on the order that we input.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921827"/>
            <a:ext cx="11280459" cy="125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BST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that created by a random permutation of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N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element has the expected height is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O(logN)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8357" y="5024438"/>
            <a:ext cx="11280459" cy="1844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Moreover, by </a:t>
            </a:r>
            <a:r>
              <a:rPr lang="en-US" sz="3900" i="1" u="sng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probability and statistics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the average distance between the root to a random node inside the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is approximately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2lnN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845627"/>
            <a:ext cx="11280459" cy="2102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Therefore, the </a:t>
            </a:r>
            <a:r>
              <a:rPr lang="en-US" sz="3900" b="1" u="sng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average complexity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of the operations (like finding, inserting, erasing,...) is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O(logN)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3170392"/>
            <a:ext cx="11280459" cy="73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 i="1" u="sng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Quiz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What is the worst complexity of the Treap?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56354"/>
            <a:ext cx="11654943" cy="529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5263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 their most basic form,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treaps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are not really useful, because we have many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self-balancing trees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that are much more efficient and faster than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treaps.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  <a:p>
            <a:pPr algn="l">
              <a:lnSpc>
                <a:spcPts val="5263"/>
              </a:lnSpc>
            </a:pPr>
            <a:endParaRPr lang="en-US" sz="375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501791" lvl="1" indent="-250895" algn="l">
              <a:lnSpc>
                <a:spcPts val="5263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However, with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implicit treaps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we can efficiently perform operations on a regular array in fashion similar to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segment trees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and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fenwick trees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algn="l">
              <a:lnSpc>
                <a:spcPts val="5263"/>
              </a:lnSpc>
            </a:pPr>
            <a:endParaRPr lang="en-US" sz="375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84929"/>
            <a:ext cx="11654943" cy="553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962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Some operations can be done by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implicit treaps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marL="1623301" lvl="2" indent="-541100" algn="l">
              <a:lnSpc>
                <a:spcPts val="5676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an element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x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 position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i</a:t>
            </a:r>
          </a:p>
          <a:p>
            <a:pPr marL="1623301" lvl="2" indent="-541100" algn="l">
              <a:lnSpc>
                <a:spcPts val="5676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Delete the element at position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i</a:t>
            </a:r>
          </a:p>
          <a:p>
            <a:pPr marL="1623301" lvl="2" indent="-541100" algn="l">
              <a:lnSpc>
                <a:spcPts val="5676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Performing interval queries (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sum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min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max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etc.)</a:t>
            </a:r>
          </a:p>
          <a:p>
            <a:pPr marL="1623301" lvl="2" indent="-541100" algn="l">
              <a:lnSpc>
                <a:spcPts val="5676"/>
              </a:lnSpc>
              <a:buFont typeface="Arial"/>
              <a:buChar char="⚬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Perform interval updates (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add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set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reverse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etc.)</a:t>
            </a:r>
          </a:p>
          <a:p>
            <a:pPr algn="l">
              <a:lnSpc>
                <a:spcPts val="4511"/>
              </a:lnSpc>
            </a:pPr>
            <a:endParaRPr lang="en-US" sz="375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5613976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Normal Treap Node: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5441" y="3367009"/>
            <a:ext cx="6406187" cy="587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Node{</a:t>
            </a:r>
          </a:p>
          <a:p>
            <a:pPr algn="l">
              <a:lnSpc>
                <a:spcPts val="3986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 val;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571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 pri;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 *left, *right;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Node(int k){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val = k;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571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pri = rng();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left = right = nullptr;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985"/>
              </a:lnSpc>
            </a:pPr>
            <a:r>
              <a:rPr lang="en-US" sz="257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  <a:p>
            <a:pPr algn="l">
              <a:lnSpc>
                <a:spcPts val="3085"/>
              </a:lnSpc>
            </a:pPr>
            <a:endParaRPr lang="en-US" sz="257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6343884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 Node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5441" y="3367009"/>
            <a:ext cx="6167257" cy="661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Node{</a:t>
            </a:r>
          </a:p>
          <a:p>
            <a:pPr algn="l">
              <a:lnSpc>
                <a:spcPts val="3837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int val;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4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int pri;</a:t>
            </a:r>
          </a:p>
          <a:p>
            <a:pPr algn="l">
              <a:lnSpc>
                <a:spcPts val="3836"/>
              </a:lnSpc>
            </a:pPr>
            <a:r>
              <a:rPr lang="en-US" sz="24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  int size;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 *left, *right;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Node(int k){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val = k;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4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pri = rng();</a:t>
            </a:r>
          </a:p>
          <a:p>
            <a:pPr algn="l">
              <a:lnSpc>
                <a:spcPts val="3836"/>
              </a:lnSpc>
            </a:pPr>
            <a:r>
              <a:rPr lang="en-US" sz="24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      size = 1;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left = right = nullptr;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</a:p>
          <a:p>
            <a:pPr algn="l">
              <a:lnSpc>
                <a:spcPts val="3836"/>
              </a:lnSpc>
            </a:pPr>
            <a:r>
              <a:rPr lang="en-US" sz="2475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</a:p>
          <a:p>
            <a:pPr algn="l">
              <a:lnSpc>
                <a:spcPts val="2970"/>
              </a:lnSpc>
            </a:pPr>
            <a:endParaRPr lang="en-US" sz="2475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6343884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Splitting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3053099"/>
            <a:ext cx="11658600" cy="409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 split(Node* root, int k, Node* &amp;left, Node* &amp;right){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if (root == nullptr){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left = right = nullptr;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[...]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828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3053099"/>
            <a:ext cx="11658600" cy="502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int idx = nodeSize(root-&gt;left);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if (idx &lt; k){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split(root-&gt;right, k - idx - 1, root-&gt;right, right);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left = root;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 else{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split(root-&gt;left, val, left, root-&gt;left);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right = root;</a:t>
            </a: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</a:p>
          <a:p>
            <a:pPr algn="l">
              <a:lnSpc>
                <a:spcPts val="3652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52"/>
              </a:lnSpc>
            </a:pPr>
            <a:r>
              <a:rPr lang="en-US" sz="2356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root-&gt;size = 1 + nodeSize(root-&gt;left) + nodeSize(root-&gt;right);</a:t>
            </a:r>
          </a:p>
          <a:p>
            <a:pPr algn="l">
              <a:lnSpc>
                <a:spcPts val="2828"/>
              </a:lnSpc>
            </a:pPr>
            <a:endParaRPr lang="en-US" sz="2356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0288751" cy="63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4511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Merging is the same with a normal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599204"/>
            <a:ext cx="11280459" cy="445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791" lvl="1" indent="-250895" algn="l">
              <a:lnSpc>
                <a:spcPts val="5827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 node in a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Implicit Treap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represents a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segment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an array.</a:t>
            </a:r>
          </a:p>
          <a:p>
            <a:pPr marL="501791" lvl="1" indent="-250895" algn="l">
              <a:lnSpc>
                <a:spcPts val="5827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Combine with the power of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splitting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and </a:t>
            </a:r>
            <a:r>
              <a:rPr lang="en-US" sz="3759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merging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a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Treap,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we can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cut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paste,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and make other operations with the </a:t>
            </a:r>
            <a:r>
              <a:rPr lang="en-US" sz="375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segments </a:t>
            </a:r>
            <a:r>
              <a:rPr lang="en-US" sz="375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the arrays by using this data structure.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2008742" cy="515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Standard Treap: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Ease of implementation: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It is easy to implement more than other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self-balancing trees.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Ordered set: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By storing the size of the subtree at each node, we can find the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kth-smallest element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O(logN)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2008742" cy="286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Standard Treap: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Joining and Splitting Databases: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Treaps can be split into two trees and merged back together in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O(logN)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time.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2008742" cy="592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Implicit Treap: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Dynamic Array with Fast Insert/Delete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Persistent Data Structures: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Useful in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Undo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mechanisms in text editors or version control logic.</a:t>
            </a:r>
          </a:p>
          <a:p>
            <a:pPr marL="1684021" lvl="2" indent="-561340" algn="l">
              <a:lnSpc>
                <a:spcPts val="608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Rope Data Structure: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used to manage large blocks of text, with efficient cutting, copying, and pasting massive strings.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3022376"/>
            <a:ext cx="9689833" cy="80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465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Reversals and Sums (CSES 2074)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4700" y="3817932"/>
            <a:ext cx="11284116" cy="255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3262" spc="-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Given an array of </a:t>
            </a:r>
            <a:r>
              <a:rPr lang="en-US" sz="3262" i="1" spc="-8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n</a:t>
            </a:r>
            <a:r>
              <a:rPr lang="en-US" sz="3262" spc="-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integers, you have to process following operations:</a:t>
            </a:r>
          </a:p>
          <a:p>
            <a:pPr marL="704453" lvl="1" indent="-352226" algn="l">
              <a:lnSpc>
                <a:spcPts val="5057"/>
              </a:lnSpc>
              <a:buAutoNum type="arabicPeriod"/>
            </a:pPr>
            <a:r>
              <a:rPr lang="en-US" sz="3262" spc="-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reverse a subarray</a:t>
            </a:r>
          </a:p>
          <a:p>
            <a:pPr marL="704453" lvl="1" indent="-352226" algn="l">
              <a:lnSpc>
                <a:spcPts val="5057"/>
              </a:lnSpc>
              <a:buAutoNum type="arabicPeriod"/>
            </a:pPr>
            <a:r>
              <a:rPr lang="en-US" sz="3262" spc="-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calculate the sum of values in a subarray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551579"/>
            <a:ext cx="11280459" cy="84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435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Solution: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Implicit Treap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551579"/>
            <a:ext cx="11280459" cy="84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435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Each node stores an extra element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Calculate the sum (2nd operation):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3328" y="3419843"/>
            <a:ext cx="10315488" cy="408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the treap into 3 parts: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[1, L - 1]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[L, R]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[R + 1, N]</a:t>
            </a:r>
          </a:p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Output the sum of the middle part</a:t>
            </a:r>
          </a:p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46829"/>
            <a:ext cx="11280459" cy="2102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Reverse a subarray: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 propagation</a:t>
            </a:r>
          </a:p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Each node stores an extra flag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to check if that segment is reversed or not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18254"/>
            <a:ext cx="11280459" cy="438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73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When we reach a node that has its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is </a:t>
            </a:r>
            <a:r>
              <a:rPr lang="en-US" sz="3900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true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we swap its left and right child node, update the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its children, then we set its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to </a:t>
            </a:r>
            <a:r>
              <a:rPr lang="en-US" sz="3900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false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again.</a:t>
            </a:r>
          </a:p>
          <a:p>
            <a:pPr marL="520561" lvl="1" indent="-260280" algn="l">
              <a:lnSpc>
                <a:spcPts val="5733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process can be solved simply by using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XOR (Exclusive OR)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Reverse a subarray: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3328" y="3419843"/>
            <a:ext cx="10315488" cy="475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the treap into 3 parts: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[1, L - 1]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[L, R]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[R + 1, N]</a:t>
            </a:r>
          </a:p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Update the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lazy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the middle Node:</a:t>
            </a:r>
          </a:p>
          <a:p>
            <a:pPr marL="1684021" lvl="2" indent="-561340" algn="l">
              <a:lnSpc>
                <a:spcPts val="5304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mid-&gt;lazy ^= 1</a:t>
            </a:r>
          </a:p>
          <a:p>
            <a:pPr marL="842011" lvl="1" indent="-421005" algn="l">
              <a:lnSpc>
                <a:spcPts val="5304"/>
              </a:lnSpc>
              <a:buAutoNum type="arabicPeriod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3022376"/>
            <a:ext cx="10539497" cy="80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465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Substring Reversals (CSES 2073)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4700" y="3817932"/>
            <a:ext cx="11284116" cy="192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3262" spc="-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Given a string, your task is to process operations where you reverse a substring of the string. What is the final string after all the operations?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314700" y="3998907"/>
            <a:ext cx="12140050" cy="2655636"/>
          </a:xfrm>
          <a:custGeom>
            <a:avLst/>
            <a:gdLst/>
            <a:ahLst/>
            <a:cxnLst/>
            <a:rect l="l" t="t" r="r" b="b"/>
            <a:pathLst>
              <a:path w="12140050" h="2655636">
                <a:moveTo>
                  <a:pt x="0" y="0"/>
                </a:moveTo>
                <a:lnTo>
                  <a:pt x="12140050" y="0"/>
                </a:lnTo>
                <a:lnTo>
                  <a:pt x="12140050" y="2655636"/>
                </a:lnTo>
                <a:lnTo>
                  <a:pt x="0" y="26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Programming Assignments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4700" y="3022376"/>
            <a:ext cx="9689833" cy="80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4656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Game (IOI 2013)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11830" y="1099459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Benchmark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4700" y="2792570"/>
            <a:ext cx="11280459" cy="2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6123"/>
              </a:lnSpc>
              <a:buFont typeface="Arial"/>
              <a:buChar char="•"/>
            </a:pP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Substring Reversals (CSES 2073)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Perform many range operations [a, b]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Reverse substring in place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Input size up to 200,000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613133" y="3152691"/>
            <a:ext cx="13061735" cy="5663970"/>
          </a:xfrm>
          <a:custGeom>
            <a:avLst/>
            <a:gdLst/>
            <a:ahLst/>
            <a:cxnLst/>
            <a:rect l="l" t="t" r="r" b="b"/>
            <a:pathLst>
              <a:path w="13061735" h="5663970">
                <a:moveTo>
                  <a:pt x="0" y="0"/>
                </a:moveTo>
                <a:lnTo>
                  <a:pt x="13061734" y="0"/>
                </a:lnTo>
                <a:lnTo>
                  <a:pt x="13061734" y="5663971"/>
                </a:lnTo>
                <a:lnTo>
                  <a:pt x="0" y="5663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" r="-59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65850" y="1196621"/>
            <a:ext cx="11332966" cy="108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3"/>
              </a:lnSpc>
            </a:pPr>
            <a:r>
              <a:rPr lang="en-US" sz="6403" b="1" spc="-1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Performance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13504"/>
            <a:ext cx="11280459" cy="664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2731" lvl="1" indent="-451365" algn="l">
              <a:lnSpc>
                <a:spcPts val="5017"/>
              </a:lnSpc>
              <a:buFont typeface="Arial"/>
              <a:buChar char="•"/>
            </a:pPr>
            <a:r>
              <a:rPr lang="en-US" sz="418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Brute Force: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Time: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O(nm)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as the string size (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n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 and operations (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m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 (reach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7500ms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Space: Maintains a very low and inconsistent memory footprint (under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100 KB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902731" lvl="1" indent="-451365" algn="l">
              <a:lnSpc>
                <a:spcPts val="5017"/>
              </a:lnSpc>
              <a:buFont typeface="Arial"/>
              <a:buChar char="•"/>
            </a:pPr>
            <a:r>
              <a:rPr lang="en-US" sz="418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Treap: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Time: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O(m log n)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(reach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600ms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Space: Reaching nearly 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10,000 KB 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(</a:t>
            </a:r>
            <a:r>
              <a:rPr lang="en-US" sz="39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10 MB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).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 Works Better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09965" y="2811141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endParaRPr/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Supports range operations efficiently</a:t>
            </a:r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Avoids repeated string copying</a:t>
            </a:r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 complexity: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O(m log n)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vs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O(nm)</a:t>
            </a:r>
          </a:p>
          <a:p>
            <a:pPr algn="l">
              <a:lnSpc>
                <a:spcPts val="4680"/>
              </a:lnSpc>
            </a:pPr>
            <a:endParaRPr lang="en-US" sz="3900" b="1" i="1">
              <a:solidFill>
                <a:srgbClr val="000000"/>
              </a:solidFill>
              <a:latin typeface="Arial MT Pro Bold Italics"/>
              <a:ea typeface="Arial MT Pro Bold Italics"/>
              <a:cs typeface="Arial MT Pro Bold Italics"/>
              <a:sym typeface="Arial MT Pro Bold Italics"/>
            </a:endParaRPr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“Treap transforms the problem into structural operations instead of repeated modifications.”</a:t>
            </a:r>
          </a:p>
          <a:p>
            <a:pPr algn="l">
              <a:lnSpc>
                <a:spcPts val="4680"/>
              </a:lnSpc>
            </a:pPr>
            <a:endParaRPr lang="en-US" sz="3900" i="1">
              <a:solidFill>
                <a:srgbClr val="000000"/>
              </a:solidFill>
              <a:latin typeface="Arial MT Pro Italics"/>
              <a:ea typeface="Arial MT Pro Italics"/>
              <a:cs typeface="Arial MT Pro Italics"/>
              <a:sym typeface="Arial MT Pro Itali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Second Experiment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53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Insert and retrieve elements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Compare: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Red-Black Tree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Test on: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data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sorted data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77872" y="5393359"/>
            <a:ext cx="12547116" cy="4705168"/>
          </a:xfrm>
          <a:custGeom>
            <a:avLst/>
            <a:gdLst/>
            <a:ahLst/>
            <a:cxnLst/>
            <a:rect l="l" t="t" r="r" b="b"/>
            <a:pathLst>
              <a:path w="12547116" h="4705168">
                <a:moveTo>
                  <a:pt x="0" y="0"/>
                </a:moveTo>
                <a:lnTo>
                  <a:pt x="12547116" y="0"/>
                </a:lnTo>
                <a:lnTo>
                  <a:pt x="12547116" y="4705169"/>
                </a:lnTo>
                <a:lnTo>
                  <a:pt x="0" y="470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77872" y="188472"/>
            <a:ext cx="12725563" cy="4772086"/>
          </a:xfrm>
          <a:custGeom>
            <a:avLst/>
            <a:gdLst/>
            <a:ahLst/>
            <a:cxnLst/>
            <a:rect l="l" t="t" r="r" b="b"/>
            <a:pathLst>
              <a:path w="12725563" h="4772086">
                <a:moveTo>
                  <a:pt x="0" y="0"/>
                </a:moveTo>
                <a:lnTo>
                  <a:pt x="12725563" y="0"/>
                </a:lnTo>
                <a:lnTo>
                  <a:pt x="12725563" y="4772086"/>
                </a:lnTo>
                <a:lnTo>
                  <a:pt x="0" y="477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BST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496145"/>
            <a:ext cx="11280459" cy="2291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1" lvl="1" indent="-421005" algn="l">
              <a:lnSpc>
                <a:spcPts val="6006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Works well on random data</a:t>
            </a:r>
          </a:p>
          <a:p>
            <a:pPr marL="842011" lvl="1" indent="-421005" algn="l">
              <a:lnSpc>
                <a:spcPts val="6006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Fails on sorted input</a:t>
            </a:r>
          </a:p>
          <a:p>
            <a:pPr marL="842011" lvl="1" indent="-421005" algn="l">
              <a:lnSpc>
                <a:spcPts val="6006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Becomes </a:t>
            </a:r>
            <a:r>
              <a:rPr lang="en-US" sz="3900" b="1" i="1">
                <a:solidFill>
                  <a:srgbClr val="000000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O(n)</a:t>
            </a: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in worst case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8567" y="6005303"/>
            <a:ext cx="4610866" cy="90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4462" b="1" u="sng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highly unreliable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77872" y="5393359"/>
            <a:ext cx="12547116" cy="4705168"/>
          </a:xfrm>
          <a:custGeom>
            <a:avLst/>
            <a:gdLst/>
            <a:ahLst/>
            <a:cxnLst/>
            <a:rect l="l" t="t" r="r" b="b"/>
            <a:pathLst>
              <a:path w="12547116" h="4705168">
                <a:moveTo>
                  <a:pt x="0" y="0"/>
                </a:moveTo>
                <a:lnTo>
                  <a:pt x="12547116" y="0"/>
                </a:lnTo>
                <a:lnTo>
                  <a:pt x="12547116" y="4705169"/>
                </a:lnTo>
                <a:lnTo>
                  <a:pt x="0" y="470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77872" y="188472"/>
            <a:ext cx="12725563" cy="4772086"/>
          </a:xfrm>
          <a:custGeom>
            <a:avLst/>
            <a:gdLst/>
            <a:ahLst/>
            <a:cxnLst/>
            <a:rect l="l" t="t" r="r" b="b"/>
            <a:pathLst>
              <a:path w="12725563" h="4772086">
                <a:moveTo>
                  <a:pt x="0" y="0"/>
                </a:moveTo>
                <a:lnTo>
                  <a:pt x="12725563" y="0"/>
                </a:lnTo>
                <a:lnTo>
                  <a:pt x="12725563" y="4772086"/>
                </a:lnTo>
                <a:lnTo>
                  <a:pt x="0" y="477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Stable on all inputs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Handles both: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data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sorted data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Slight overhead: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priority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balancing operations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640719" y="7418854"/>
            <a:ext cx="6635734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3"/>
              </a:lnSpc>
              <a:spcBef>
                <a:spcPct val="0"/>
              </a:spcBef>
            </a:pPr>
            <a:r>
              <a:rPr lang="en-US" sz="4603" b="1" u="sng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consistent performance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77872" y="5393359"/>
            <a:ext cx="12547116" cy="4705168"/>
          </a:xfrm>
          <a:custGeom>
            <a:avLst/>
            <a:gdLst/>
            <a:ahLst/>
            <a:cxnLst/>
            <a:rect l="l" t="t" r="r" b="b"/>
            <a:pathLst>
              <a:path w="12547116" h="4705168">
                <a:moveTo>
                  <a:pt x="0" y="0"/>
                </a:moveTo>
                <a:lnTo>
                  <a:pt x="12547116" y="0"/>
                </a:lnTo>
                <a:lnTo>
                  <a:pt x="12547116" y="4705169"/>
                </a:lnTo>
                <a:lnTo>
                  <a:pt x="0" y="470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77872" y="188472"/>
            <a:ext cx="12725563" cy="4772086"/>
          </a:xfrm>
          <a:custGeom>
            <a:avLst/>
            <a:gdLst/>
            <a:ahLst/>
            <a:cxnLst/>
            <a:rect l="l" t="t" r="r" b="b"/>
            <a:pathLst>
              <a:path w="12725563" h="4772086">
                <a:moveTo>
                  <a:pt x="0" y="0"/>
                </a:moveTo>
                <a:lnTo>
                  <a:pt x="12725563" y="0"/>
                </a:lnTo>
                <a:lnTo>
                  <a:pt x="12725563" y="4772086"/>
                </a:lnTo>
                <a:lnTo>
                  <a:pt x="0" y="477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Red-Black Tree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46829"/>
            <a:ext cx="11280459" cy="278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Fastest in this benchmark</a:t>
            </a:r>
          </a:p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Highly optimized balancing</a:t>
            </a:r>
          </a:p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Very stable</a:t>
            </a:r>
          </a:p>
          <a:p>
            <a:pPr algn="l">
              <a:lnSpc>
                <a:spcPts val="546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14489" y="5235546"/>
            <a:ext cx="8873877" cy="7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3"/>
              </a:lnSpc>
              <a:spcBef>
                <a:spcPct val="0"/>
              </a:spcBef>
            </a:pPr>
            <a:r>
              <a:rPr lang="en-US" sz="4603" b="1" u="sng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more complex to implement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77872" y="5393359"/>
            <a:ext cx="12547116" cy="4705168"/>
          </a:xfrm>
          <a:custGeom>
            <a:avLst/>
            <a:gdLst/>
            <a:ahLst/>
            <a:cxnLst/>
            <a:rect l="l" t="t" r="r" b="b"/>
            <a:pathLst>
              <a:path w="12547116" h="4705168">
                <a:moveTo>
                  <a:pt x="0" y="0"/>
                </a:moveTo>
                <a:lnTo>
                  <a:pt x="12547116" y="0"/>
                </a:lnTo>
                <a:lnTo>
                  <a:pt x="12547116" y="4705169"/>
                </a:lnTo>
                <a:lnTo>
                  <a:pt x="0" y="470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77872" y="188472"/>
            <a:ext cx="12725563" cy="4772086"/>
          </a:xfrm>
          <a:custGeom>
            <a:avLst/>
            <a:gdLst/>
            <a:ahLst/>
            <a:cxnLst/>
            <a:rect l="l" t="t" r="r" b="b"/>
            <a:pathLst>
              <a:path w="12725563" h="4772086">
                <a:moveTo>
                  <a:pt x="0" y="0"/>
                </a:moveTo>
                <a:lnTo>
                  <a:pt x="12725563" y="0"/>
                </a:lnTo>
                <a:lnTo>
                  <a:pt x="12725563" y="4772086"/>
                </a:lnTo>
                <a:lnTo>
                  <a:pt x="0" y="477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vs Other Structures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646829"/>
            <a:ext cx="11280459" cy="4152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vs BST:</a:t>
            </a:r>
          </a:p>
          <a:p>
            <a:pPr marL="1684021" lvl="2" indent="-561340" algn="l">
              <a:lnSpc>
                <a:spcPts val="546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much more reliable</a:t>
            </a:r>
          </a:p>
          <a:p>
            <a:pPr marL="520561" lvl="1" indent="-260280" algn="l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vs Red-Black Tree:</a:t>
            </a:r>
          </a:p>
          <a:p>
            <a:pPr marL="1684021" lvl="2" indent="-561340" algn="l">
              <a:lnSpc>
                <a:spcPts val="546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slightly slower</a:t>
            </a:r>
          </a:p>
          <a:p>
            <a:pPr marL="1684021" lvl="2" indent="-561340" algn="l">
              <a:lnSpc>
                <a:spcPts val="546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but simpler and more flexible</a:t>
            </a:r>
          </a:p>
          <a:p>
            <a:pPr algn="l">
              <a:lnSpc>
                <a:spcPts val="546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77872" y="5393359"/>
            <a:ext cx="12547116" cy="4705168"/>
          </a:xfrm>
          <a:custGeom>
            <a:avLst/>
            <a:gdLst/>
            <a:ahLst/>
            <a:cxnLst/>
            <a:rect l="l" t="t" r="r" b="b"/>
            <a:pathLst>
              <a:path w="12547116" h="4705168">
                <a:moveTo>
                  <a:pt x="0" y="0"/>
                </a:moveTo>
                <a:lnTo>
                  <a:pt x="12547116" y="0"/>
                </a:lnTo>
                <a:lnTo>
                  <a:pt x="12547116" y="4705169"/>
                </a:lnTo>
                <a:lnTo>
                  <a:pt x="0" y="470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77872" y="188472"/>
            <a:ext cx="12725563" cy="4772086"/>
          </a:xfrm>
          <a:custGeom>
            <a:avLst/>
            <a:gdLst/>
            <a:ahLst/>
            <a:cxnLst/>
            <a:rect l="l" t="t" r="r" b="b"/>
            <a:pathLst>
              <a:path w="12725563" h="4772086">
                <a:moveTo>
                  <a:pt x="0" y="0"/>
                </a:moveTo>
                <a:lnTo>
                  <a:pt x="12725563" y="0"/>
                </a:lnTo>
                <a:lnTo>
                  <a:pt x="12725563" y="4772086"/>
                </a:lnTo>
                <a:lnTo>
                  <a:pt x="0" y="4772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Key Takeaways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 is much better than brute force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More reliable than standard 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Not always the fastest (RBTree wins)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Best for: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range operations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dynamic sequences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flexible problems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 is Important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Combines: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efficiency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flexibility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Supports: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merge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range operations</a:t>
            </a:r>
          </a:p>
          <a:p>
            <a:pPr marL="520561" lvl="1" indent="-260280" algn="l">
              <a:lnSpc>
                <a:spcPts val="4680"/>
              </a:lnSpc>
              <a:buFont typeface="Arial"/>
              <a:buChar char="•"/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A powerful tool in advanced problems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Treap is Important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13504"/>
            <a:ext cx="11280459" cy="197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4181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→ May not be the fastest structure, but offers a unique combination of simplicity, flexibility, and strong performance.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53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two core operations are used to build most Treap algorithms?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Push and Pop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Search and Update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Split and Merge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Rotate and Recolor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546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two core operations are used to build most Treap algorithms?</a:t>
            </a:r>
          </a:p>
          <a:p>
            <a:pPr algn="l">
              <a:lnSpc>
                <a:spcPts val="5354"/>
              </a:lnSpc>
            </a:pPr>
            <a:r>
              <a:rPr lang="en-US" sz="4462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Push and Pop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Search and Update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Split and Merge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Rotate and Recolor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does a Treap tend to stay balanced?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It performs rotations like AVL trees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It enforces strict height constraints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It uses random priorities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It sorts nodes after insertion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Why does a Treap tend to stay balanced?</a:t>
            </a:r>
          </a:p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It performs rotations like AVL trees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It enforces strict height constraints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It uses random priorities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It sorts nodes after insertion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3 — Merge condition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When can two treaps be merged directly?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When both have equal size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When their priorities are equal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When all keys in left &lt; all keys in right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When both are balanced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3 — Merge condition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2723029"/>
            <a:ext cx="11280459" cy="53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When can two treaps be merged directly?</a:t>
            </a:r>
          </a:p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When both have equal size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When their priorities are equal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When all keys in left &lt; all keys in right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When both are balanced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4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596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statement is TRUE about Treap?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Treap always has lower time complexity than Red-Black Tree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Treap guarantees perfect balance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Treap has expected O(n log n) height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Treap does depend on randomness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4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596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statement is TRUE about Treap?</a:t>
            </a:r>
          </a:p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Treap always has lower time complexity than Red-Black Tree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Treap guarantees perfect balance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Treap has expected O(n log n) height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Treap does depend on randomness</a:t>
            </a:r>
          </a:p>
          <a:p>
            <a:pPr algn="l">
              <a:lnSpc>
                <a:spcPts val="4680"/>
              </a:lnSpc>
            </a:pPr>
            <a:endParaRPr lang="en-US" sz="3900" u="sng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 u="sng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 u="sng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65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If we insert sorted data into a Treap, what happens?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Tree becomes a chain like 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Tree stays balanced (high probability)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Tree becomes a heap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It depends only on key values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832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If we insert sorted data into a Treap, what happens?</a:t>
            </a:r>
          </a:p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Tree becomes a chain like 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Tree stays balanced (high probability)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Tree becomes a heap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It depends only on key values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842011" lvl="1" indent="-421005" algn="l">
              <a:lnSpc>
                <a:spcPts val="4680"/>
              </a:lnSpc>
              <a:buFont typeface="Arial"/>
              <a:buChar char="•"/>
            </a:pPr>
            <a:r>
              <a:rPr lang="en-US" sz="3900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“Treap ignores insertion order thanks to randomness.”</a:t>
            </a:r>
          </a:p>
          <a:p>
            <a:pPr algn="l">
              <a:lnSpc>
                <a:spcPts val="4680"/>
              </a:lnSpc>
            </a:pPr>
            <a:endParaRPr lang="en-US" sz="3900" i="1">
              <a:solidFill>
                <a:srgbClr val="000000"/>
              </a:solidFill>
              <a:latin typeface="Arial MT Pro Italics"/>
              <a:ea typeface="Arial MT Pro Italics"/>
              <a:cs typeface="Arial MT Pro Italics"/>
              <a:sym typeface="Arial MT Pro Italics"/>
            </a:endParaRPr>
          </a:p>
          <a:p>
            <a:pPr algn="l">
              <a:lnSpc>
                <a:spcPts val="4680"/>
              </a:lnSpc>
            </a:pPr>
            <a:endParaRPr lang="en-US" sz="3900" i="1">
              <a:solidFill>
                <a:srgbClr val="000000"/>
              </a:solidFill>
              <a:latin typeface="Arial MT Pro Italics"/>
              <a:ea typeface="Arial MT Pro Italics"/>
              <a:cs typeface="Arial MT Pro Italics"/>
              <a:sym typeface="Arial MT Pro Italics"/>
            </a:endParaRPr>
          </a:p>
          <a:p>
            <a:pPr algn="l">
              <a:lnSpc>
                <a:spcPts val="4680"/>
              </a:lnSpc>
            </a:pPr>
            <a:endParaRPr lang="en-US" sz="3900" i="1">
              <a:solidFill>
                <a:srgbClr val="000000"/>
              </a:solidFill>
              <a:latin typeface="Arial MT Pro Italics"/>
              <a:ea typeface="Arial MT Pro Italics"/>
              <a:cs typeface="Arial MT Pro Italics"/>
              <a:sym typeface="Arial MT Pro Italics"/>
            </a:endParaRPr>
          </a:p>
          <a:p>
            <a:pPr algn="l">
              <a:lnSpc>
                <a:spcPts val="4680"/>
              </a:lnSpc>
            </a:pPr>
            <a:endParaRPr lang="en-US" sz="3900" i="1">
              <a:solidFill>
                <a:srgbClr val="000000"/>
              </a:solidFill>
              <a:latin typeface="Arial MT Pro Italics"/>
              <a:ea typeface="Arial MT Pro Italics"/>
              <a:cs typeface="Arial MT Pro Italics"/>
              <a:sym typeface="Arial MT Pro Italic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596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What happens if all priorities in a Treap are equal?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CC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Still balanced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Becomes a standard 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Becomes a Linked List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Program crashes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Quiz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3771" y="2709863"/>
            <a:ext cx="11280459" cy="5969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What happens if all priorities in a Treap are equal?</a:t>
            </a:r>
          </a:p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C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Answer: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A. Still balanced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 u="sng">
                <a:solidFill>
                  <a:srgbClr val="CC0000"/>
                </a:solidFill>
                <a:latin typeface="Arial MT Pro"/>
                <a:ea typeface="Arial MT Pro"/>
                <a:cs typeface="Arial MT Pro"/>
                <a:sym typeface="Arial MT Pro"/>
              </a:rPr>
              <a:t>B. Becomes a standard BST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C. Becomes a Linked List</a:t>
            </a:r>
          </a:p>
          <a:p>
            <a:pPr marL="1684021" lvl="2" indent="-561340" algn="l">
              <a:lnSpc>
                <a:spcPts val="4680"/>
              </a:lnSpc>
              <a:buFont typeface="Arial"/>
              <a:buChar char="⚬"/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D. Program crashes</a:t>
            </a: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4680"/>
              </a:lnSpc>
            </a:pPr>
            <a:endParaRPr lang="en-US" sz="39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1830" y="2352294"/>
            <a:ext cx="6980868" cy="164780"/>
            <a:chOff x="0" y="0"/>
            <a:chExt cx="6618897" cy="156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18732" cy="156083"/>
            </a:xfrm>
            <a:custGeom>
              <a:avLst/>
              <a:gdLst/>
              <a:ahLst/>
              <a:cxnLst/>
              <a:rect l="l" t="t" r="r" b="b"/>
              <a:pathLst>
                <a:path w="6618732" h="156083">
                  <a:moveTo>
                    <a:pt x="6618732" y="0"/>
                  </a:moveTo>
                  <a:lnTo>
                    <a:pt x="0" y="0"/>
                  </a:lnTo>
                  <a:lnTo>
                    <a:pt x="0" y="156083"/>
                  </a:lnTo>
                  <a:lnTo>
                    <a:pt x="6618732" y="156083"/>
                  </a:lnTo>
                  <a:lnTo>
                    <a:pt x="6618732" y="0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265850" y="1206146"/>
            <a:ext cx="1133296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spc="-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Treap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25533" y="9452280"/>
            <a:ext cx="2851789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Group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18357" y="4477941"/>
            <a:ext cx="11280459" cy="66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Microsoft Office PowerPoint</Application>
  <PresentationFormat>Custom</PresentationFormat>
  <Paragraphs>596</Paragraphs>
  <Slides>95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6" baseType="lpstr">
      <vt:lpstr>Verdana</vt:lpstr>
      <vt:lpstr>Arial MT Pro</vt:lpstr>
      <vt:lpstr>Arial Bold</vt:lpstr>
      <vt:lpstr>Courier New Bold</vt:lpstr>
      <vt:lpstr>Arial MT Pro Bold</vt:lpstr>
      <vt:lpstr>Arial MT Pro Bold Italics</vt:lpstr>
      <vt:lpstr>Arial MT Pro Italics</vt:lpstr>
      <vt:lpstr>Courier 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treap</dc:title>
  <cp:lastModifiedBy>Admin</cp:lastModifiedBy>
  <cp:revision>2</cp:revision>
  <dcterms:created xsi:type="dcterms:W3CDTF">2006-08-16T00:00:00Z</dcterms:created>
  <dcterms:modified xsi:type="dcterms:W3CDTF">2026-04-18T13:21:56Z</dcterms:modified>
  <dc:identifier>DAHD5NPkQZY</dc:identifier>
</cp:coreProperties>
</file>